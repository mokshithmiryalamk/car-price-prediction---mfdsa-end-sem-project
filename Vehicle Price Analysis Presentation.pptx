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841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title, subject, team members, course faculty and guide. Keep this slide under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vehicle price prediction is hard and state the main objective. Mention that the complete pipeline follows M1 to M6.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dataset size, target variable and the workflow. Keep this slide visual and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M1 prepared clean data and M2 revealed skewness, category dominance and max_power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main probabilities and explain that p-value is below 0.05, so the null hypothesis is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slide. Emphasize that eight models were compared and feature engineering improved R squared to 0.804.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dashboard results, limitations and the practical meaning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achievements, limitations and future work. End confidently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37744"/>
            <a:ext cx="11612880" cy="638251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21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</a:rPr>
              <a:t>25MT1306E - Mathematics for Data Science and Analytics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</a:rPr>
              <a:t>Project Presentation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</a:rPr>
              <a:t>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8653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</a:rPr>
              <a:t>Vehicle Price Analysis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</a:rPr>
              <a:t>Using Mathematical and Statistical Methods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</a:rPr>
              <a:t>Under the Guidance of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107899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</a:rPr>
              <a:t>Dr. M P Mallesh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</a:rPr>
              <a:t>(Course Faculty)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</a:rPr>
              <a:t>Mr. M. Nagesh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</a:rPr>
              <a:t>(Project Guide)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</a:rPr>
              <a:t>Department of Mathematics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471830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</a:rPr>
              <a:t>Submitted By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86200" y="4956048"/>
            <a:ext cx="4480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Mokshith M         2510030184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Aneesha M          2510030375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T Ashish Reddy     2510080030</a:t>
            </a:r>
            <a:endParaRPr lang="en-US" sz="1250" dirty="0"/>
          </a:p>
        </p:txBody>
      </p:sp>
      <p:pic>
        <p:nvPicPr>
          <p:cNvPr id="11" name="Image 0" descr="/mnt/data/report_media/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92" y="5650992"/>
            <a:ext cx="1197735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</a:rPr>
              <a:t>Department of Mathematics | K L Deemed to be University | June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Why used vehicle pricing needs a data-driven approach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438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EAF4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21945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7160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</a:rPr>
              <a:t>The Pricing Problem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1691640"/>
            <a:ext cx="480974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574"/>
                </a:solidFill>
              </a:rPr>
              <a:t>Used vehicle prices depend on age, usage, fuel type, transmission, ownership, engine power, brand and model. Manual estimation is often inconsistent because these factors interact with each other.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703320"/>
            <a:ext cx="73152" cy="164592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86791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238"/>
                </a:solidFill>
              </a:rPr>
              <a:t>Project Objective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95528" y="4187952"/>
            <a:ext cx="4809744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574"/>
                </a:solidFill>
              </a:rPr>
              <a:t>Analyze the used vehicle dataset and build a regression model capable of predicting resale value with reasonable accuracy.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234440"/>
            <a:ext cx="24231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234440"/>
            <a:ext cx="109728" cy="1078992"/>
          </a:xfrm>
          <a:prstGeom prst="rect">
            <a:avLst/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13990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E2F56"/>
                </a:solidFill>
              </a:rPr>
              <a:t>M1–M6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601968" y="1783080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Complete Workflow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01968" y="205740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Cleaning → Dashboard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098280" y="1234440"/>
            <a:ext cx="24231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1234440"/>
            <a:ext cx="109728" cy="1078992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13990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A058"/>
                </a:solidFill>
              </a:rPr>
              <a:t>0.804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299448" y="1783080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Best R² Score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99448" y="205740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Final Model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24231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2633472"/>
            <a:ext cx="109728" cy="10789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279806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80ED"/>
                </a:solidFill>
              </a:rPr>
              <a:t>6,926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601968" y="318211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Cleaned Records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01968" y="345643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After duplicate removal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098280" y="2633472"/>
            <a:ext cx="24231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098280" y="2633472"/>
            <a:ext cx="109728" cy="107899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99448" y="279806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5A524"/>
                </a:solidFill>
              </a:rPr>
              <a:t>8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299448" y="318211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Models Compared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99448" y="345643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Feature combinations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400800" y="4187952"/>
            <a:ext cx="5120640" cy="1170432"/>
          </a:xfrm>
          <a:prstGeom prst="roundRect">
            <a:avLst>
              <a:gd name="adj" fmla="val 7813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370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ECFF"/>
                </a:solidFill>
              </a:rPr>
              <a:t>Pitch in one line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4645152"/>
            <a:ext cx="4572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Transform raw vehicle listings into meaningful price insights and a predictive model.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693408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Vehicle Price Analysis | Mathematics for Data Science and Analytics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430000" y="66842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4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CarDekho used vehicle dataset processed through a complete analytical pipeline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438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10972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71600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80ED"/>
                </a:solidFill>
              </a:rPr>
              <a:t>6,926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95528" y="175564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Final Records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" y="202996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Cleaned dataset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44368" y="120700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44368" y="1207008"/>
            <a:ext cx="109728" cy="1051560"/>
          </a:xfrm>
          <a:prstGeom prst="rect">
            <a:avLst/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1371600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E2F56"/>
                </a:solidFill>
              </a:rPr>
              <a:t>13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145536" y="175564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Core Columns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45536" y="202996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Before encoding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48716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487168"/>
            <a:ext cx="109728" cy="105156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2651760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A058"/>
                </a:solidFill>
              </a:rPr>
              <a:t>1,383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95528" y="303580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Final Features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5528" y="331012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After encoding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944368" y="248716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44368" y="2487168"/>
            <a:ext cx="109728" cy="10515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5536" y="2651760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5A524"/>
                </a:solidFill>
              </a:rPr>
              <a:t>Selling Price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145536" y="303580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Target Variable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45536" y="3310128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Resale value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4360" y="3886200"/>
            <a:ext cx="44988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886200"/>
            <a:ext cx="73152" cy="13716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405079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238"/>
                </a:solidFill>
              </a:rPr>
              <a:t>Major Inputs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" y="4370832"/>
            <a:ext cx="409651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Year • Kilometers Driven • Mileage • Engine • Max Power • Fuel • Transmission • Owner • Brand • Vehicle Model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532120" y="1417320"/>
            <a:ext cx="749808" cy="713232"/>
          </a:xfrm>
          <a:prstGeom prst="roundRect">
            <a:avLst>
              <a:gd name="adj" fmla="val 10256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68696" y="16184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Dataset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483096" y="1417320"/>
            <a:ext cx="749808" cy="713232"/>
          </a:xfrm>
          <a:prstGeom prst="roundRect">
            <a:avLst>
              <a:gd name="adj" fmla="val 10256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16184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Cleaning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7434072" y="1417320"/>
            <a:ext cx="749808" cy="713232"/>
          </a:xfrm>
          <a:prstGeom prst="roundRect">
            <a:avLst>
              <a:gd name="adj" fmla="val 10256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70648" y="16184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EDA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8385048" y="1417320"/>
            <a:ext cx="749808" cy="713232"/>
          </a:xfrm>
          <a:prstGeom prst="roundRect">
            <a:avLst>
              <a:gd name="adj" fmla="val 10256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21624" y="16184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Probability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9336024" y="1417320"/>
            <a:ext cx="749808" cy="713232"/>
          </a:xfrm>
          <a:prstGeom prst="roundRect">
            <a:avLst>
              <a:gd name="adj" fmla="val 10256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16184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Inference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10287000" y="1417320"/>
            <a:ext cx="749808" cy="713232"/>
          </a:xfrm>
          <a:prstGeom prst="roundRect">
            <a:avLst>
              <a:gd name="adj" fmla="val 10256"/>
            </a:avLst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23576" y="16184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Regression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11237976" y="1417320"/>
            <a:ext cx="749808" cy="713232"/>
          </a:xfrm>
          <a:prstGeom prst="roundRect">
            <a:avLst>
              <a:gd name="adj" fmla="val 10256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274552" y="16184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Dashboard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5623560" y="2468880"/>
            <a:ext cx="5440680" cy="2560320"/>
          </a:xfrm>
          <a:prstGeom prst="roundRect">
            <a:avLst>
              <a:gd name="adj" fmla="val 2857"/>
            </a:avLst>
          </a:prstGeom>
          <a:solidFill>
            <a:srgbClr val="EAF4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23560" y="2468880"/>
            <a:ext cx="73152" cy="2560320"/>
          </a:xfrm>
          <a:prstGeom prst="rect">
            <a:avLst/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24728" y="2633472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</a:rPr>
              <a:t>Methodology Summary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824728" y="2953512"/>
            <a:ext cx="5038344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574"/>
                </a:solidFill>
              </a:rPr>
              <a:t>The project follows an end-to-end mathematical and statistical workflow: data cleaning, exploratory analysis, probability analysis, statistical inference, regression modeling and final dashboard interpretation.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0" y="5376672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5486400"/>
            <a:ext cx="4023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Goal: Explain + Predict Used Vehicle Prices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693408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Vehicle Price Analysis | Mathematics for Data Science and Analytics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430000" y="66842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4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 &amp; M2: Cleaning + Exploratory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From raw data to interpretable patterns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438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EAF4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43000"/>
            <a:ext cx="73152" cy="15544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3075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M1 Cleaning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" y="1627632"/>
            <a:ext cx="234086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</a:rPr>
              <a:t>• Median / mode imputation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</a:rPr>
              <a:t>• 1,202 duplicates removed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</a:rPr>
              <a:t>• Numeric conversion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574"/>
                </a:solidFill>
              </a:rPr>
              <a:t>• Outliers analyzed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47872" y="114300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0" descr="/mnt/data/report_media/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059" y="1252728"/>
            <a:ext cx="2559747" cy="1527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85032" y="285292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52238"/>
                </a:solidFill>
              </a:rPr>
              <a:t>Outlier Detection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7114032" y="1143000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1" descr="/mnt/data/report_media/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565" y="1252728"/>
            <a:ext cx="2562335" cy="1527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51192" y="28529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52238"/>
                </a:solidFill>
              </a:rPr>
              <a:t>Selling Price Distribution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502920" y="37033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2" descr="/mnt/data/report_media/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09" y="3813048"/>
            <a:ext cx="3019581" cy="1801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" y="56875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52238"/>
                </a:solidFill>
              </a:rPr>
              <a:t>Fuel Type Distribution</a:t>
            </a:r>
            <a:endParaRPr lang="en-US" sz="880" dirty="0"/>
          </a:p>
        </p:txBody>
      </p:sp>
      <p:sp>
        <p:nvSpPr>
          <p:cNvPr id="20" name="Shape 15"/>
          <p:cNvSpPr/>
          <p:nvPr/>
        </p:nvSpPr>
        <p:spPr>
          <a:xfrm>
            <a:off x="4343400" y="35661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3" descr="/mnt/data/report_media/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926" y="3675888"/>
            <a:ext cx="2296788" cy="19385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80560" y="56875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52238"/>
                </a:solidFill>
              </a:rPr>
              <a:t>Correlation Heatmap</a:t>
            </a:r>
            <a:endParaRPr lang="en-US" sz="880" dirty="0"/>
          </a:p>
        </p:txBody>
      </p:sp>
      <p:sp>
        <p:nvSpPr>
          <p:cNvPr id="23" name="Shape 17"/>
          <p:cNvSpPr/>
          <p:nvPr/>
        </p:nvSpPr>
        <p:spPr>
          <a:xfrm>
            <a:off x="7909560" y="3703320"/>
            <a:ext cx="354787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909560" y="3703320"/>
            <a:ext cx="73152" cy="224028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110728" y="3867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Key Insights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110728" y="4187952"/>
            <a:ext cx="3145536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• Price is positively skewed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• Diesel &amp; Petrol dominate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• Manual vehicles are most common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• max_power has strongest positive correlation with price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02920" y="6693408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Vehicle Price Analysis | Mathematics for Data Science and Analytics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11430000" y="66842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4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M3 &amp; M4: Probability + Statistical Inference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Quantifying dataset composition and validating price conclusions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438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mnt/data/report_media/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36" y="1252728"/>
            <a:ext cx="4169168" cy="2487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81304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52238"/>
                </a:solidFill>
              </a:rPr>
              <a:t>Probability Analysis of Vehicle Characteristics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6446520" y="114300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143000"/>
            <a:ext cx="109728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47688" y="130759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80ED"/>
                </a:solidFill>
              </a:rPr>
              <a:t>54.22%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647688" y="169164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Diesel Vehicles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823960" y="114300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823960" y="1143000"/>
            <a:ext cx="109728" cy="96012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25128" y="130759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A058"/>
                </a:solidFill>
              </a:rPr>
              <a:t>91.57%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025128" y="169164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Manual Transmission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46520" y="242316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2423160"/>
            <a:ext cx="109728" cy="960120"/>
          </a:xfrm>
          <a:prstGeom prst="rect">
            <a:avLst/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7688" y="258775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E2F56"/>
                </a:solidFill>
              </a:rPr>
              <a:t>61.25%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647688" y="29718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First Owner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823960" y="242316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823960" y="2423160"/>
            <a:ext cx="109728" cy="9601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25128" y="258775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5A524"/>
                </a:solidFill>
              </a:rPr>
              <a:t>89.78%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025128" y="29718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Individual Seller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4360" y="4434840"/>
            <a:ext cx="10287000" cy="1097280"/>
          </a:xfrm>
          <a:prstGeom prst="roundRect">
            <a:avLst>
              <a:gd name="adj" fmla="val 8333"/>
            </a:avLst>
          </a:prstGeom>
          <a:solidFill>
            <a:srgbClr val="EAF4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" y="4572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F56"/>
                </a:solidFill>
              </a:rPr>
              <a:t>Statistical Inference Result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520440" y="45537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4"/>
                </a:solidFill>
              </a:rPr>
              <a:t>Mean Price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52044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ED"/>
                </a:solidFill>
              </a:rPr>
              <a:t>₹5.17 Lakh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257800" y="45537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4"/>
                </a:solidFill>
              </a:rPr>
              <a:t>95% CI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25780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A058"/>
                </a:solidFill>
              </a:rPr>
              <a:t>₹5.05–₹5.30 Lakh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995160" y="45537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4"/>
                </a:solidFill>
              </a:rPr>
              <a:t>t-value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99516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F56"/>
                </a:solidFill>
              </a:rPr>
              <a:t>2.7653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732520" y="45537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4"/>
                </a:solidFill>
              </a:rPr>
              <a:t>p-value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73252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484D"/>
                </a:solidFill>
              </a:rPr>
              <a:t>0.0057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280160" y="5797296"/>
            <a:ext cx="9601200" cy="457200"/>
          </a:xfrm>
          <a:prstGeom prst="roundRect">
            <a:avLst>
              <a:gd name="adj" fmla="val 16000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417320" y="5907024"/>
            <a:ext cx="9326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Conclusion: Mean selling price is statistically different from ₹5,00,000 at 5% significance level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6693408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Vehicle Price Analysis | Mathematics for Data Science and Analytics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1430000" y="66842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4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M5: Regression Modeling &amp; Prediction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Eight models compared; feature engineering delivered the best result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438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5669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mnt/data/report_media/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20" y="1207008"/>
            <a:ext cx="4935559" cy="2944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224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52238"/>
                </a:solidFill>
              </a:rPr>
              <a:t>Actual vs Predicted Selling Price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6629400" y="1097280"/>
            <a:ext cx="4526280" cy="1828800"/>
          </a:xfrm>
          <a:prstGeom prst="roundRect">
            <a:avLst>
              <a:gd name="adj" fmla="val 6000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  <a:effectLst>
            <a:outerShdw blurRad="12700" dist="508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03720" y="14173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7ECFF"/>
                </a:solidFill>
              </a:rPr>
              <a:t>Best Model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1783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R² = 0.804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903720" y="23774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ECFF"/>
                </a:solidFill>
              </a:rPr>
              <a:t>≈ 80.4% variation explained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29400" y="3246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29400" y="3246120"/>
            <a:ext cx="109728" cy="100584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0568" y="34107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A058"/>
                </a:solidFill>
              </a:rPr>
              <a:t>₹87,969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830568" y="37947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MAE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30568" y="406908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Avg absolute error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052560" y="3246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52560" y="3246120"/>
            <a:ext cx="109728" cy="10058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53728" y="34107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5A524"/>
                </a:solidFill>
              </a:rPr>
              <a:t>₹2,07,320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9253728" y="379476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RMSE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253728" y="406908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Large-error sensitive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4360" y="48920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AF4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" y="4892040"/>
            <a:ext cx="73152" cy="100584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" y="5056632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38"/>
                </a:solidFill>
              </a:rPr>
              <a:t>Why Model 8 Worked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95528" y="5376672"/>
            <a:ext cx="49469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574"/>
                </a:solidFill>
              </a:rPr>
              <a:t>Brand and detailed vehicle model extracted from the name column captured manufacturer-specific and model-specific pricing patterns.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263640" y="48920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63640" y="4892040"/>
            <a:ext cx="73152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64808" y="505663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238"/>
                </a:solidFill>
              </a:rPr>
              <a:t>Model Comparison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64808" y="5376672"/>
            <a:ext cx="44897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6574"/>
                </a:solidFill>
              </a:rPr>
              <a:t>Numerical-only models gave moderate results. Adding categorical + brand + model features produced the final score.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6693408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Vehicle Price Analysis | Mathematics for Data Science and Analytics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430000" y="66842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4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M6: Dashboard &amp; Final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Summarizing the project outcome in decision-friendly metrics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438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143000"/>
            <a:ext cx="109728" cy="1143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07592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80ED"/>
                </a:solidFill>
              </a:rPr>
              <a:t>6,926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95528" y="16916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Cleaned Records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43000"/>
            <a:ext cx="109728" cy="1143000"/>
          </a:xfrm>
          <a:prstGeom prst="rect">
            <a:avLst/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307592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E2F56"/>
                </a:solidFill>
              </a:rPr>
              <a:t>1,383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447288" y="16916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Encoded Features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11430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1143000"/>
            <a:ext cx="109728" cy="114300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1307592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8A058"/>
                </a:solidFill>
              </a:rPr>
              <a:t>Model 8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9048" y="16916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Best Model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49640" y="11430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49640" y="1143000"/>
            <a:ext cx="109728" cy="11430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50808" y="1307592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5A524"/>
                </a:solidFill>
              </a:rPr>
              <a:t>0.804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750808" y="169164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2238"/>
                </a:solidFill>
              </a:rPr>
              <a:t>Final R² Score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2788920"/>
            <a:ext cx="3291840" cy="2423160"/>
          </a:xfrm>
          <a:prstGeom prst="roundRect">
            <a:avLst>
              <a:gd name="adj" fmla="val 3019"/>
            </a:avLst>
          </a:prstGeom>
          <a:solidFill>
            <a:srgbClr val="EAF4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788920"/>
            <a:ext cx="73152" cy="24231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9535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Business Interpretation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5528" y="3273552"/>
            <a:ext cx="2889504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6574"/>
                </a:solidFill>
              </a:rPr>
              <a:t>The model can estimate used vehicle prices using available specifications and vehicle identity features. It is explainable and practically useful for decision support.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51960" y="2788920"/>
            <a:ext cx="32918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1960" y="2788920"/>
            <a:ext cx="73152" cy="242316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53128" y="29535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53128" y="3273552"/>
            <a:ext cx="2889504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6574"/>
                </a:solidFill>
              </a:rPr>
              <a:t>Vehicle condition, accident history, service record, insurance, exact location and negotiation details were not available in the dataset.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09560" y="2788920"/>
            <a:ext cx="2971800" cy="2423160"/>
          </a:xfrm>
          <a:prstGeom prst="roundRect">
            <a:avLst>
              <a:gd name="adj" fmla="val 3019"/>
            </a:avLst>
          </a:prstGeom>
          <a:solidFill>
            <a:srgbClr val="0E2F56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09560" y="2788920"/>
            <a:ext cx="73152" cy="2423160"/>
          </a:xfrm>
          <a:prstGeom prst="rect">
            <a:avLst/>
          </a:prstGeom>
          <a:solidFill>
            <a:srgbClr val="D7ECFF"/>
          </a:solidFill>
          <a:ln w="12700">
            <a:solidFill>
              <a:srgbClr val="D7E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0728" y="29535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This Proves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10728" y="3273552"/>
            <a:ext cx="2569464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4FF"/>
                </a:solidFill>
              </a:rPr>
              <a:t>Mathematical and statistical methods can turn raw listings into meaningful insights and a strong predictive model.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280160" y="5715000"/>
            <a:ext cx="9601200" cy="502920"/>
          </a:xfrm>
          <a:prstGeom prst="roundRect">
            <a:avLst>
              <a:gd name="adj" fmla="val 14545"/>
            </a:avLst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17320" y="5824728"/>
            <a:ext cx="9326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Result: Strong and explainable regression model for used vehicle price estimation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693408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Vehicle Price Analysis | Mathematics for Data Science and Analytics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430000" y="66842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4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574"/>
                </a:solidFill>
              </a:rPr>
              <a:t>From vehicle data to a complete analytical price-estimation pipeline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2F56"/>
          </a:solidFill>
          <a:ln w="12700">
            <a:solidFill>
              <a:srgbClr val="0E2F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438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EAF4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143000"/>
            <a:ext cx="73152" cy="242316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0759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</a:rPr>
              <a:t>Achievements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1627632"/>
            <a:ext cx="2935224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✓ Complete M1–M6 workflow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✓ Data cleaned and analyzed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✓ Probability and inference applied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✓ 8 regression models compared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✓ Final R² = 0.804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143000"/>
            <a:ext cx="33375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143000"/>
            <a:ext cx="73152" cy="24231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30759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8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6008" y="1627632"/>
            <a:ext cx="2935224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• Random Forest Regressor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• Gradient Boosting / XGBoost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• CatBoost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574"/>
                </a:solidFill>
              </a:rPr>
              <a:t>• Web-based price prediction application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1143000"/>
            <a:ext cx="3017520" cy="2423160"/>
          </a:xfrm>
          <a:prstGeom prst="roundRect">
            <a:avLst>
              <a:gd name="adj" fmla="val 3019"/>
            </a:avLst>
          </a:prstGeom>
          <a:solidFill>
            <a:srgbClr val="0E2F56"/>
          </a:solidFill>
          <a:ln w="12700">
            <a:solidFill>
              <a:srgbClr val="D7E2F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143000"/>
            <a:ext cx="73152" cy="2423160"/>
          </a:xfrm>
          <a:prstGeom prst="rect">
            <a:avLst/>
          </a:prstGeom>
          <a:solidFill>
            <a:srgbClr val="D7ECFF"/>
          </a:solidFill>
          <a:ln w="12700">
            <a:solidFill>
              <a:srgbClr val="D7E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13075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Message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5048" y="1627632"/>
            <a:ext cx="2615184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4FF"/>
                </a:solidFill>
              </a:rPr>
              <a:t>Feature engineering and statistical analysis significantly improved prediction quality and made the model more realistic.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537667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2F56"/>
                </a:solidFill>
              </a:rPr>
              <a:t>Thank You</a:t>
            </a:r>
            <a:endParaRPr lang="en-US" sz="3600" dirty="0"/>
          </a:p>
        </p:txBody>
      </p:sp>
      <p:pic>
        <p:nvPicPr>
          <p:cNvPr id="21" name="Image 0" descr="/mnt/data/report_media/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915" y="5486400"/>
            <a:ext cx="1255690" cy="5943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" y="6217920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74"/>
                </a:solidFill>
              </a:rPr>
              <a:t>Vehicle Price Analysis | Team: Mokshith M, Aneesha M, T Ashish Reddy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93408"/>
            <a:ext cx="6217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574"/>
                </a:solidFill>
              </a:rPr>
              <a:t>Vehicle Price Analysis | Mathematics for Data Science and Analytics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430000" y="66842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574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Microsoft Office PowerPoint</Application>
  <PresentationFormat>Widescreen</PresentationFormat>
  <Paragraphs>187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 L Deemed to be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Price Analysis Using Mathematical and Statistical Methods</dc:title>
  <dc:subject>Vehicle Price Analysis Presentation</dc:subject>
  <dc:creator>OpenAI</dc:creator>
  <cp:lastModifiedBy>Mokshith Miryala</cp:lastModifiedBy>
  <cp:revision>3</cp:revision>
  <dcterms:created xsi:type="dcterms:W3CDTF">2026-06-25T03:16:27Z</dcterms:created>
  <dcterms:modified xsi:type="dcterms:W3CDTF">2026-06-25T03:35:23Z</dcterms:modified>
</cp:coreProperties>
</file>